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0"/>
            <a:ext cx="67967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94960" y="0"/>
            <a:ext cx="6796735" cy="6858000"/>
          </a:xfrm>
          <a:prstGeom prst="rect">
            <a:avLst/>
          </a:prstGeom>
          <a:solidFill>
            <a:srgbClr val="050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3291840"/>
            <a:ext cx="5303520" cy="381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28600"/>
            <a:ext cx="164592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1097280"/>
            <a:ext cx="6126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200" b="1" i="0">
                <a:solidFill>
                  <a:srgbClr val="FFFFFF"/>
                </a:solidFill>
                <a:latin typeface="Arial"/>
                <a:cs typeface="Arial"/>
              </a:rPr>
              <a:t>הזדמנות השקעה בנדל״ן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920240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0" i="0">
                <a:solidFill>
                  <a:srgbClr val="C4875C"/>
                </a:solidFill>
                <a:latin typeface="Arial"/>
                <a:cs typeface="Arial"/>
              </a:rPr>
              <a:t>מלאדה בולסלב, צ׳כיה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633472"/>
            <a:ext cx="5029200" cy="19050"/>
          </a:xfrm>
          <a:prstGeom prst="rect">
            <a:avLst/>
          </a:prstGeom>
          <a:solidFill>
            <a:srgbClr val="E8D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27432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E8D3BB"/>
                </a:solidFill>
                <a:latin typeface="Arial"/>
                <a:cs typeface="Arial"/>
              </a:rPr>
              <a:t>55 יחידות דיור  •  1,200 מ״ר מסחר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2004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888682"/>
                </a:solidFill>
                <a:latin typeface="Arial"/>
                <a:cs typeface="Arial"/>
              </a:rPr>
              <a:t>IRR משוער: 27.8%  |  תקופה: 36 חודשים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43600"/>
            <a:ext cx="6583680" cy="914400"/>
          </a:xfrm>
          <a:prstGeom prst="rect">
            <a:avLst/>
          </a:prstGeom>
          <a:solidFill>
            <a:srgbClr val="11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6108192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C4875C"/>
                </a:solidFill>
                <a:latin typeface="Arial"/>
                <a:cs typeface="Arial"/>
              </a:rPr>
              <a:t>Czechia Israel s.r.o.  |  צ׳כיה ישראל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5040"/>
            <a:ext cx="12191695" cy="508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6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FFFFFF"/>
                </a:solidFill>
                <a:latin typeface="Arial"/>
                <a:cs typeface="Arial"/>
              </a:rPr>
              <a:t>צ׳כיה — כלכלה יציבה, שוק נדל״ן בצמיחה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D3BB"/>
                </a:solidFill>
                <a:latin typeface="Arial"/>
                <a:cs typeface="Arial"/>
              </a:rPr>
              <a:t>חברה ב-EU | דירוג אשראי AA- | מדינה עם שלטון חוק ויציבות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26060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260604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AA-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1343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דירוג אשראי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5351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S&amp;P / Fitch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508760"/>
            <a:ext cx="26060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0" y="1508760"/>
            <a:ext cx="260604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6002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3.2%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31343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צמיחת GDP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5351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ממוצע 5 שנים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508760"/>
            <a:ext cx="26060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508760"/>
            <a:ext cx="260604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6002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€330B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31343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תוצר לאומי גולמי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95351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מדינה מפותחת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1508760"/>
            <a:ext cx="26060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78240" y="1508760"/>
            <a:ext cx="260604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6002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2004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31343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חברה באיחוד האירופי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95351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שוק חופשי, שקיפות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703320"/>
            <a:ext cx="116430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צ׳כיה היא אחת הכלכלות היציבות והמפותחות ביותר במרכז אירופה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האינפלציה הוכנסה לשליטה ב-2023 — הריבית בירידה, המשכנתאות נפתחות שוב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שוק הנדל״ן מאופיין בביקוש כבוש עצום לאחר שנתיים של האטה — עיתוי כניסה אידיאלי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מדינה עם שלטון חוק, מערכת משפטית אירופאית, ופרוטקציות למשקיעים זרים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28816"/>
            <a:ext cx="114601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E8D3BB"/>
                </a:solidFill>
                <a:latin typeface="Arial"/>
                <a:cs typeface="Arial"/>
              </a:rPr>
              <a:t>צ׳כיה ישראל  |  הזדמנות השקעה — מלאדה בולסלב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5040"/>
            <a:ext cx="12191695" cy="508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6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FFFFFF"/>
                </a:solidFill>
                <a:latin typeface="Arial"/>
                <a:cs typeface="Arial"/>
              </a:rPr>
              <a:t>שוק הנדל״ן בצ׳כיה — עלייה מתמדת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D3BB"/>
                </a:solidFill>
                <a:latin typeface="Arial"/>
                <a:cs typeface="Arial"/>
              </a:rPr>
              <a:t>פראג ועיירות הלוויין: מחסור כרוני בהיצע מול ביקוש הולך וגדל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3657600" cy="2926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365760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0876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7200" b="1" i="0">
                <a:solidFill>
                  <a:srgbClr val="C4875C"/>
                </a:solidFill>
                <a:latin typeface="Arial"/>
                <a:cs typeface="Arial"/>
              </a:rPr>
              <a:t>+70%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0" i="0">
                <a:solidFill>
                  <a:srgbClr val="FFFFFF"/>
                </a:solidFill>
                <a:latin typeface="Arial"/>
                <a:cs typeface="Arial"/>
              </a:rPr>
              <a:t>עליית מחירים בפראג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246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E8D3BB"/>
                </a:solidFill>
                <a:latin typeface="Arial"/>
                <a:cs typeface="Arial"/>
              </a:rPr>
              <a:t>בחמש השנים האחרונות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688336"/>
            <a:ext cx="502920" cy="1426464"/>
          </a:xfrm>
          <a:prstGeom prst="rect">
            <a:avLst/>
          </a:prstGeom>
          <a:solidFill>
            <a:srgbClr val="2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418795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0" i="0">
                <a:solidFill>
                  <a:srgbClr val="2C2C2C"/>
                </a:solidFill>
                <a:latin typeface="Arial"/>
                <a:cs typeface="Arial"/>
              </a:rPr>
              <a:t>2019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6829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0" i="0">
                <a:solidFill>
                  <a:srgbClr val="1B2A4A"/>
                </a:solidFill>
                <a:latin typeface="Arial"/>
                <a:cs typeface="Arial"/>
              </a:rPr>
              <a:t>52K CZK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3208" y="2468880"/>
            <a:ext cx="502920" cy="1645920"/>
          </a:xfrm>
          <a:prstGeom prst="rect">
            <a:avLst/>
          </a:prstGeom>
          <a:solidFill>
            <a:srgbClr val="2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7488" y="418795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0" i="0">
                <a:solidFill>
                  <a:srgbClr val="2C2C2C"/>
                </a:solidFill>
                <a:latin typeface="Arial"/>
                <a:cs typeface="Arial"/>
              </a:rPr>
              <a:t>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214884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0" i="0">
                <a:solidFill>
                  <a:srgbClr val="1B2A4A"/>
                </a:solidFill>
                <a:latin typeface="Arial"/>
                <a:cs typeface="Arial"/>
              </a:rPr>
              <a:t>60K CZK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97296" y="1975104"/>
            <a:ext cx="502920" cy="2139696"/>
          </a:xfrm>
          <a:prstGeom prst="rect">
            <a:avLst/>
          </a:prstGeom>
          <a:solidFill>
            <a:srgbClr val="2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51576" y="418795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0" i="0">
                <a:solidFill>
                  <a:srgbClr val="2C2C2C"/>
                </a:solidFill>
                <a:latin typeface="Arial"/>
                <a:cs typeface="Arial"/>
              </a:rPr>
              <a:t>2021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51576" y="165506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0" i="0">
                <a:solidFill>
                  <a:srgbClr val="1B2A4A"/>
                </a:solidFill>
                <a:latin typeface="Arial"/>
                <a:cs typeface="Arial"/>
              </a:rPr>
              <a:t>79K CZK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1384" y="1700784"/>
            <a:ext cx="502920" cy="2414016"/>
          </a:xfrm>
          <a:prstGeom prst="rect">
            <a:avLst/>
          </a:prstGeom>
          <a:solidFill>
            <a:srgbClr val="2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418795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0" i="0">
                <a:solidFill>
                  <a:srgbClr val="2C2C2C"/>
                </a:solidFill>
                <a:latin typeface="Arial"/>
                <a:cs typeface="Arial"/>
              </a:rPr>
              <a:t>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138074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0" i="0">
                <a:solidFill>
                  <a:srgbClr val="1B2A4A"/>
                </a:solidFill>
                <a:latin typeface="Arial"/>
                <a:cs typeface="Arial"/>
              </a:rPr>
              <a:t>89K CZK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5472" y="1810512"/>
            <a:ext cx="502920" cy="2304288"/>
          </a:xfrm>
          <a:prstGeom prst="rect">
            <a:avLst/>
          </a:prstGeom>
          <a:solidFill>
            <a:srgbClr val="2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9752" y="418795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0" i="0">
                <a:solidFill>
                  <a:srgbClr val="2C2C2C"/>
                </a:solidFill>
                <a:latin typeface="Arial"/>
                <a:cs typeface="Arial"/>
              </a:rPr>
              <a:t>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149047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0" i="0">
                <a:solidFill>
                  <a:srgbClr val="1B2A4A"/>
                </a:solidFill>
                <a:latin typeface="Arial"/>
                <a:cs typeface="Arial"/>
              </a:rPr>
              <a:t>85K CZK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1371600"/>
            <a:ext cx="502920" cy="27432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418795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0" i="0">
                <a:solidFill>
                  <a:srgbClr val="2C2C2C"/>
                </a:solidFill>
                <a:latin typeface="Arial"/>
                <a:cs typeface="Arial"/>
              </a:rPr>
              <a:t>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10515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C4875C"/>
                </a:solidFill>
                <a:latin typeface="Arial"/>
                <a:cs typeface="Arial"/>
              </a:rPr>
              <a:t>100K CZK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1188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1" i="0">
                <a:solidFill>
                  <a:srgbClr val="1B2A4A"/>
                </a:solidFill>
                <a:latin typeface="Arial"/>
                <a:cs typeface="Arial"/>
              </a:rPr>
              <a:t>מחיר ממוצע למ״ר — פראג (CZK)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1234440"/>
            <a:ext cx="2651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מחיר ממוצע פראג: ~100,000 CZK/מ״ר (≈€4,000)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עיירות הלוויין: 35,000–55,000 CZK/מ״ר — פוטנציאל צמיחה עצום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היתרי בנייה: קיפאון בירוקרטי — ההיצע הולך ופוחת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משקיעים זרים: רוכשים 25%+ מהעסקאות החדשות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שכירות: תשואה שוטפת 4-6% בשנה ברחבי המדינה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28816"/>
            <a:ext cx="114601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E8D3BB"/>
                </a:solidFill>
                <a:latin typeface="Arial"/>
                <a:cs typeface="Arial"/>
              </a:rPr>
              <a:t>צ׳כיה ישראל  |  הזדמנות השקעה — מלאדה בולסלב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5040"/>
            <a:ext cx="12191695" cy="508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6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FFFFFF"/>
                </a:solidFill>
                <a:latin typeface="Arial"/>
                <a:cs typeface="Arial"/>
              </a:rPr>
              <a:t>מלאדה בולסלב — עיר הרכב של אירופה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D3BB"/>
                </a:solidFill>
                <a:latin typeface="Arial"/>
                <a:cs typeface="Arial"/>
              </a:rPr>
              <a:t>הביקוש לדיור גבוה פי 3 מההיצע הזמין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4663440" cy="3840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66344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6400" b="1" i="0">
                <a:solidFill>
                  <a:srgbClr val="C4875C"/>
                </a:solidFill>
                <a:latin typeface="Arial"/>
                <a:cs typeface="Arial"/>
              </a:rPr>
              <a:t>23,000+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06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800" b="0" i="0">
                <a:solidFill>
                  <a:srgbClr val="FFFFFF"/>
                </a:solidFill>
                <a:latin typeface="Arial"/>
                <a:cs typeface="Arial"/>
              </a:rPr>
              <a:t>עובדים בסקודה אאוטו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4114800" cy="12700"/>
          </a:xfrm>
          <a:prstGeom prst="rect">
            <a:avLst/>
          </a:prstGeom>
          <a:solidFill>
            <a:srgbClr val="CCC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3375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700" b="0" i="0">
                <a:solidFill>
                  <a:srgbClr val="E8D3BB"/>
                </a:solidFill>
                <a:latin typeface="Arial"/>
                <a:cs typeface="Arial"/>
              </a:rPr>
              <a:t>45 דקות מפראג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72160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500" b="0" i="0">
                <a:solidFill>
                  <a:srgbClr val="E8D3BB"/>
                </a:solidFill>
                <a:latin typeface="Arial"/>
                <a:cs typeface="Arial"/>
              </a:rPr>
              <a:t>אוכלוסייה: 45,000 תושבים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08736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 i="0">
                <a:solidFill>
                  <a:srgbClr val="888682"/>
                </a:solidFill>
                <a:latin typeface="Arial"/>
                <a:cs typeface="Arial"/>
              </a:rPr>
              <a:t>מרכז תעשייתי ראשון בסדר בצ׳כיה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234440"/>
            <a:ext cx="224028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57800" y="1234440"/>
            <a:ext cx="224028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132588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03911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תפוסה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38658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ביקוש לשכירות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234440"/>
            <a:ext cx="224028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1234440"/>
            <a:ext cx="224028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32588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3x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03911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עודף ביקוש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38658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ביקוש על ההיצע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87000" y="1234440"/>
            <a:ext cx="224028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87000" y="1234440"/>
            <a:ext cx="224028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1325880"/>
            <a:ext cx="2057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↑25%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8440" y="203911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מחירים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238658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עלייה ב-3 שנים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3136392"/>
            <a:ext cx="6675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מפעל סקודה אאוטו הוא המפעל הגדול ביותר בצ׳כיה — 10,000 רכבים ביום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גלי עבודה מגיעים מכל רחבי אירופה — עובדים צעירים שמחפשים דיור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שכונות ותיקות מיושנות — שוק הדיור החדש כמעט לא קיים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סקנסקה (ענקית הנדל״ן הצ׳כית) נמצאת גם היא בשלבי הוצאת היתר לפרויקט סמוך — לנו כבר יש היתר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28816"/>
            <a:ext cx="114601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E8D3BB"/>
                </a:solidFill>
                <a:latin typeface="Arial"/>
                <a:cs typeface="Arial"/>
              </a:rPr>
              <a:t>צ׳כיה ישראל  |  הזדמנות השקעה — מלאדה בולסלב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5040"/>
            <a:ext cx="12191695" cy="508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6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FFFFFF"/>
                </a:solidFill>
                <a:latin typeface="Arial"/>
                <a:cs typeface="Arial"/>
              </a:rPr>
              <a:t>חלון הזדמנויות — ביקוש גדול, היצע אפסי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5029200" cy="3840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02920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FFFFFF"/>
                </a:solidFill>
                <a:latin typeface="Arial"/>
                <a:cs typeface="Arial"/>
              </a:rPr>
              <a:t>↓  היצע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E8D3BB"/>
                </a:solidFill>
                <a:latin typeface="Arial"/>
                <a:cs typeface="Arial"/>
              </a:rPr>
              <a:t>• בירוקרטיה: ממוצע 7–12 שנה להיתר בנייה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E8D3BB"/>
                </a:solidFill>
                <a:latin typeface="Arial"/>
                <a:cs typeface="Arial"/>
              </a:rPr>
              <a:t>• יזמים גדולים עוצרים פרויקטים בשנים האחרונות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E8D3BB"/>
                </a:solidFill>
                <a:latin typeface="Arial"/>
                <a:cs typeface="Arial"/>
              </a:rPr>
              <a:t>• מחסור ב-180,000 יחידות ברחבי צ׳כיה (Deloitte)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E8D3BB"/>
                </a:solidFill>
                <a:latin typeface="Arial"/>
                <a:cs typeface="Arial"/>
              </a:rPr>
              <a:t>• ריבוי קרקע ציבורית לא מנוצלת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E8D3BB"/>
                </a:solidFill>
                <a:latin typeface="Arial"/>
                <a:cs typeface="Arial"/>
              </a:rPr>
              <a:t>• בנייה חדשה: ירידה של 30% בהיתרים ב-2022–23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2697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800" b="0" i="0">
                <a:solidFill>
                  <a:srgbClr val="C4875C"/>
                </a:solidFill>
                <a:latin typeface="Arial"/>
                <a:cs typeface="Arial"/>
              </a:rPr>
              <a:t>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1325880"/>
            <a:ext cx="5029200" cy="3840480"/>
          </a:xfrm>
          <a:prstGeom prst="rect">
            <a:avLst/>
          </a:prstGeom>
          <a:solidFill>
            <a:srgbClr val="F2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12280" y="1325880"/>
            <a:ext cx="502920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1325880"/>
            <a:ext cx="50292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80" y="1325880"/>
            <a:ext cx="502920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14630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1B2A4A"/>
                </a:solidFill>
                <a:latin typeface="Arial"/>
                <a:cs typeface="Arial"/>
              </a:rPr>
              <a:t>↑  ביקוש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19456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2C2C2C"/>
                </a:solidFill>
                <a:latin typeface="Arial"/>
                <a:cs typeface="Arial"/>
              </a:rPr>
              <a:t>• 23,000+ עובדי סקודה מחפשים דיור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2C2C2C"/>
                </a:solidFill>
                <a:latin typeface="Arial"/>
                <a:cs typeface="Arial"/>
              </a:rPr>
              <a:t>• גידול האוכלוסייה ב-MB: +3% בשנה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2C2C2C"/>
                </a:solidFill>
                <a:latin typeface="Arial"/>
                <a:cs typeface="Arial"/>
              </a:rPr>
              <a:t>• השכרה: תשואה שוטפת 5–7% בשנה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2C2C2C"/>
                </a:solidFill>
                <a:latin typeface="Arial"/>
                <a:cs typeface="Arial"/>
              </a:rPr>
              <a:t>• ריבית משכנתאות בירידה — קונים חוזרים לשוק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2C2C2C"/>
                </a:solidFill>
                <a:latin typeface="Arial"/>
                <a:cs typeface="Arial"/>
              </a:rPr>
              <a:t>• עיר עם שוק עבודה יציב — אפס אבטלה בפועל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28816"/>
            <a:ext cx="114601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E8D3BB"/>
                </a:solidFill>
                <a:latin typeface="Arial"/>
                <a:cs typeface="Arial"/>
              </a:rPr>
              <a:t>צ׳כיה ישראל  |  הזדמנות השקעה — מלאדה בולסלב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3017520"/>
            <a:ext cx="12191695" cy="254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114601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7200" b="1" i="0">
                <a:solidFill>
                  <a:srgbClr val="FFFFFF"/>
                </a:solidFill>
                <a:latin typeface="Arial"/>
                <a:cs typeface="Arial"/>
              </a:rPr>
              <a:t>הרקורד שלנו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0" i="0">
                <a:solidFill>
                  <a:srgbClr val="C4875C"/>
                </a:solidFill>
                <a:latin typeface="Arial"/>
                <a:cs typeface="Arial"/>
              </a:rPr>
              <a:t>5 פרויקטים  •  עשרות משקיעים מרוצים  •  תשואות יוצאות דופן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E8D3BB"/>
                </a:solidFill>
                <a:latin typeface="Arial"/>
                <a:cs typeface="Arial"/>
              </a:rPr>
              <a:t>2021 —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5040"/>
            <a:ext cx="12191695" cy="508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6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FFFFFF"/>
                </a:solidFill>
                <a:latin typeface="Arial"/>
                <a:cs typeface="Arial"/>
              </a:rPr>
              <a:t>אמיל קולבן, פראג — פריסייל עם סקנסקה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D3BB"/>
                </a:solidFill>
                <a:latin typeface="Arial"/>
                <a:cs typeface="Arial"/>
              </a:rPr>
              <a:t>עסקת הכניסה שלנו לשוק הצ׳כי • 2021</a:t>
            </a:r>
          </a:p>
        </p:txBody>
      </p:sp>
      <p:pic>
        <p:nvPicPr>
          <p:cNvPr id="6" name="Picture 5" descr="k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188720"/>
            <a:ext cx="6675120" cy="519379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" y="1188720"/>
            <a:ext cx="54864" cy="5193792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0" y="1234440"/>
            <a:ext cx="23317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234440"/>
            <a:ext cx="233172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32588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03911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יחידות דיור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26771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נרכשו בפריסייל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64040" y="1234440"/>
            <a:ext cx="23317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1234440"/>
            <a:ext cx="233172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132588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03911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תשואה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226771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על ההשקעה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880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רכשנו 30 יחידות ישירות מסקנסקה — הקבלן הגדול ביותר בצ׳כיה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מכרנו את כל היחידות ברווח משמעותי לפני האכלוס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המשקיעים קיבלו 100% תשואה על השקעתם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הוכחנו יכולת לגשת לפרויקטי פרימיום לפני השוק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בנינו אמון עם שותפים מקומיים ומשקיעים ישראלים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28816"/>
            <a:ext cx="114601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E8D3BB"/>
                </a:solidFill>
                <a:latin typeface="Arial"/>
                <a:cs typeface="Arial"/>
              </a:rPr>
              <a:t>צ׳כיה ישראל  |  הזדמנות השקעה — מלאדה בולסלב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5040"/>
            <a:ext cx="12191695" cy="508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6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FFFFFF"/>
                </a:solidFill>
                <a:latin typeface="Arial"/>
                <a:cs typeface="Arial"/>
              </a:rPr>
              <a:t>קולין — רזידנץ הרדבני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D3BB"/>
                </a:solidFill>
                <a:latin typeface="Arial"/>
                <a:cs typeface="Arial"/>
              </a:rPr>
              <a:t>פרויקט מגורים מעולה בלב קולין • בשיתוף BCD Group</a:t>
            </a:r>
          </a:p>
        </p:txBody>
      </p:sp>
      <p:pic>
        <p:nvPicPr>
          <p:cNvPr id="6" name="Picture 5" descr="ko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234440"/>
            <a:ext cx="3657600" cy="1828800"/>
          </a:xfrm>
          <a:prstGeom prst="rect">
            <a:avLst/>
          </a:prstGeom>
        </p:spPr>
      </p:pic>
      <p:pic>
        <p:nvPicPr>
          <p:cNvPr id="7" name="Picture 6" descr="ko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200400"/>
            <a:ext cx="3657600" cy="1828800"/>
          </a:xfrm>
          <a:prstGeom prst="rect">
            <a:avLst/>
          </a:prstGeom>
        </p:spPr>
      </p:pic>
      <p:pic>
        <p:nvPicPr>
          <p:cNvPr id="8" name="Picture 7" descr="ko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234440"/>
            <a:ext cx="3200400" cy="3794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06640" y="1234440"/>
            <a:ext cx="21031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234440"/>
            <a:ext cx="210312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0" y="13258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203911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יחידות דיור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21305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פרויקט קולין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1234440"/>
            <a:ext cx="21031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92640" y="1234440"/>
            <a:ext cx="210312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132588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BCD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03911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Group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שותף מקומי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7432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פרויקט מגורים חדש עם גימורים ברמה גבוהה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קולין — עיר עם ביקוש גבוה לדיור, 30,000 תושבים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BCD Group: מעל 20 שנה בנייה בצ׳כיה, אלפי יחידות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מכירות מקדימות: ביקוש עולה על ההיצע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פיתוח תשתיות: קרבה לפראג ולמרכז עסקי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28816"/>
            <a:ext cx="114601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E8D3BB"/>
                </a:solidFill>
                <a:latin typeface="Arial"/>
                <a:cs typeface="Arial"/>
              </a:rPr>
              <a:t>צ׳כיה ישראל  |  הזדמנות השקעה — מלאדה בולסלב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5040"/>
            <a:ext cx="12191695" cy="508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6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FFFFFF"/>
                </a:solidFill>
                <a:latin typeface="Arial"/>
                <a:cs typeface="Arial"/>
              </a:rPr>
              <a:t>קולין — פרויקט 2: מגרש להתפתחות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D3BB"/>
                </a:solidFill>
                <a:latin typeface="Arial"/>
                <a:cs typeface="Arial"/>
              </a:rPr>
              <a:t>הרחבה אסטרטגית • מגרש שני בעיר קולין</a:t>
            </a:r>
          </a:p>
        </p:txBody>
      </p:sp>
      <p:pic>
        <p:nvPicPr>
          <p:cNvPr id="6" name="Picture 5" descr="ko2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234440"/>
            <a:ext cx="6858000" cy="1874519"/>
          </a:xfrm>
          <a:prstGeom prst="rect">
            <a:avLst/>
          </a:prstGeom>
        </p:spPr>
      </p:pic>
      <p:pic>
        <p:nvPicPr>
          <p:cNvPr id="7" name="Picture 6" descr="ko2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246120"/>
            <a:ext cx="6858000" cy="18745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223760" y="1234440"/>
            <a:ext cx="21945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1234440"/>
            <a:ext cx="219456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3258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1,200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03911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מ״ר מסחר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305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שטח מסחרי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1234440"/>
            <a:ext cx="21945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0" y="1234440"/>
            <a:ext cx="219456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132588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03911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שנת הזכייה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1305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במכרז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7432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מגרש מצוין בלב קולין — זכינו במכרז תחרותי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תמהיל: יחידות מגורים + 1,200 מ״ר מסחרי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שותפות מלאה עם BCD Group — ניסיון עשיר בשטח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תכנון ממוטב ליזמות: היתרי בנייה בתהליך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פוטנציאל מכירה מוקדם (פריסייל) גבוה בשוק מחוסר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28816"/>
            <a:ext cx="114601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E8D3BB"/>
                </a:solidFill>
                <a:latin typeface="Arial"/>
                <a:cs typeface="Arial"/>
              </a:rPr>
              <a:t>צ׳כיה ישראל  |  הזדמנות השקעה — מלאדה בולסלב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5040"/>
            <a:ext cx="12191695" cy="508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6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FFFFFF"/>
                </a:solidFill>
                <a:latin typeface="Arial"/>
                <a:cs typeface="Arial"/>
              </a:rPr>
              <a:t>צרניצה — רכישת חברה עם שני בניינים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D3BB"/>
                </a:solidFill>
                <a:latin typeface="Arial"/>
                <a:cs typeface="Arial"/>
              </a:rPr>
              <a:t>עסקת ערך מוסף: שיפוץ ומכירה • צרניצה</a:t>
            </a:r>
          </a:p>
        </p:txBody>
      </p:sp>
      <p:pic>
        <p:nvPicPr>
          <p:cNvPr id="6" name="Picture 5" descr="cz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234440"/>
            <a:ext cx="5897880" cy="3931920"/>
          </a:xfrm>
          <a:prstGeom prst="rect">
            <a:avLst/>
          </a:prstGeom>
        </p:spPr>
      </p:pic>
      <p:pic>
        <p:nvPicPr>
          <p:cNvPr id="7" name="Picture 6" descr="cz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3383280" cy="393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1440" y="3794760"/>
            <a:ext cx="5897880" cy="1371600"/>
          </a:xfrm>
          <a:prstGeom prst="rect">
            <a:avLst/>
          </a:prstGeom>
          <a:solidFill>
            <a:srgbClr val="0A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3840480"/>
            <a:ext cx="25603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3840480"/>
            <a:ext cx="256032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93192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6451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בניינים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5537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נרכשו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840480"/>
            <a:ext cx="25603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0" y="3840480"/>
            <a:ext cx="256032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393192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6451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יחידות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5537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סה״כ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70332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רכשנו את החברה המחזיקה בשני הבניינים — עסקת ערך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30 יחידות דיור מניבות בעיר צרניצה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שיפוץ והשבחה לתשואה שוטפת + עליית ערך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ניהול מקומי יעיל — הכנסה שוטפת ללא תפוסה אפסית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מדגים את יכולתנו לזהות עסקאות מחוץ לרדאר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28816"/>
            <a:ext cx="114601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E8D3BB"/>
                </a:solidFill>
                <a:latin typeface="Arial"/>
                <a:cs typeface="Arial"/>
              </a:rPr>
              <a:t>צ׳כיה ישראל  |  הזדמנות השקעה — מלאדה בולסלב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5040"/>
            <a:ext cx="12191695" cy="508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6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FFFFFF"/>
                </a:solidFill>
                <a:latin typeface="Arial"/>
                <a:cs typeface="Arial"/>
              </a:rPr>
              <a:t>פילזן — קורנדובה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D3BB"/>
                </a:solidFill>
                <a:latin typeface="Arial"/>
                <a:cs typeface="Arial"/>
              </a:rPr>
              <a:t>פרויקט מגורים ליד מפעל סקודה טרנספורטיישן • פילזן</a:t>
            </a:r>
          </a:p>
        </p:txBody>
      </p:sp>
      <p:pic>
        <p:nvPicPr>
          <p:cNvPr id="6" name="Picture 5" descr="pl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234440"/>
            <a:ext cx="6675120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" y="1234440"/>
            <a:ext cx="64008" cy="379476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0" y="1234440"/>
            <a:ext cx="23317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234440"/>
            <a:ext cx="233172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32588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23K+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03911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עובדים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22199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סקודה טרנספורטיישן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64040" y="1234440"/>
            <a:ext cx="23317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1234440"/>
            <a:ext cx="233172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132588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5.5%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039112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תשואה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222199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שוטפת שנתית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83464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פילזן: העיר השלישית בגודלה בצ׳כיה — כ-175,000 תושבים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סקודה טרנספורטיישן: 23,000+ עובדים — מנועי הביקוש לדיור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קורנדובה: פרויקט מגורים חדש בשכונה ביקושית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BCD Group: בנייה על-פי סטנדרטים אירופאיים גבוהים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שוק מוגבל בהיצע — ביקוש גדל שנה אחרי שנה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28816"/>
            <a:ext cx="114601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E8D3BB"/>
                </a:solidFill>
                <a:latin typeface="Arial"/>
                <a:cs typeface="Arial"/>
              </a:rPr>
              <a:t>צ׳כיה ישראל  |  הזדמנות השקעה — מלאדה בולסלב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3017520"/>
            <a:ext cx="12191695" cy="254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601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8000" b="1" i="0">
                <a:solidFill>
                  <a:srgbClr val="FFFFFF"/>
                </a:solidFill>
                <a:latin typeface="Arial"/>
                <a:cs typeface="Arial"/>
              </a:rPr>
              <a:t>העיסקה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0604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0" i="0">
                <a:solidFill>
                  <a:srgbClr val="C4875C"/>
                </a:solidFill>
                <a:latin typeface="Arial"/>
                <a:cs typeface="Arial"/>
              </a:rPr>
              <a:t>מלאדה בולסלב 2024 — ההזדמנות הגדולה הבאה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4612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0" i="0">
                <a:solidFill>
                  <a:srgbClr val="E8D3BB"/>
                </a:solidFill>
                <a:latin typeface="Arial"/>
                <a:cs typeface="Arial"/>
              </a:rPr>
              <a:t>55 יחידות דיור  •  1,200 מ״ר מסחרי  •  ליווי בנקאי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5040"/>
            <a:ext cx="12191695" cy="508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6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FFFFFF"/>
                </a:solidFill>
                <a:latin typeface="Arial"/>
                <a:cs typeface="Arial"/>
              </a:rPr>
              <a:t>מלאדה בולסלב — מבנה העסקה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D3BB"/>
                </a:solidFill>
                <a:latin typeface="Arial"/>
                <a:cs typeface="Arial"/>
              </a:rPr>
              <a:t>55 יחידות דיור + 1,200 מ״ר מסחרי • שותפות אסטרטגית עם BCD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560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56032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762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יחידות דיור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791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בנייה חדשה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1528" y="1371600"/>
            <a:ext cx="2560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81528" y="1371600"/>
            <a:ext cx="256032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72968" y="14630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1,200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2968" y="21762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מ"ר מסחרי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26791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קומת קרקע + מסחר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8736" y="1371600"/>
            <a:ext cx="2560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88736" y="1371600"/>
            <a:ext cx="256032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0176" y="14630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55M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176" y="21762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CZK — מגרש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0176" y="26791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70% צ׳כיה ישראל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95944" y="1371600"/>
            <a:ext cx="256032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95944" y="1371600"/>
            <a:ext cx="256032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87384" y="14630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20M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7384" y="217627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CZK — פיתוח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7384" y="26791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50/50 עם BCD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49040"/>
            <a:ext cx="11643055" cy="109728"/>
          </a:xfrm>
          <a:prstGeom prst="rect">
            <a:avLst/>
          </a:prstGeom>
          <a:solidFill>
            <a:srgbClr val="CCC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566160"/>
            <a:ext cx="32004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62102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שלב 1 — רכישת מגרש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99592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0" i="0">
                <a:solidFill>
                  <a:srgbClr val="E8D3BB"/>
                </a:solidFill>
                <a:latin typeface="Arial"/>
                <a:cs typeface="Arial"/>
              </a:rPr>
              <a:t>0–6 חודשים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566160"/>
            <a:ext cx="3200400" cy="777240"/>
          </a:xfrm>
          <a:prstGeom prst="rect">
            <a:avLst/>
          </a:prstGeom>
          <a:solidFill>
            <a:srgbClr val="26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362102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שלב 2 — בנייה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99592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0" i="0">
                <a:solidFill>
                  <a:srgbClr val="E8D3BB"/>
                </a:solidFill>
                <a:latin typeface="Arial"/>
                <a:cs typeface="Arial"/>
              </a:rPr>
              <a:t>6–30 חודשים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3566160"/>
            <a:ext cx="3200400" cy="77724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62102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שלב 3 — מכירות ויציאה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99592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0" i="0">
                <a:solidFill>
                  <a:srgbClr val="E8D3BB"/>
                </a:solidFill>
                <a:latin typeface="Arial"/>
                <a:cs typeface="Arial"/>
              </a:rPr>
              <a:t>30–36 חודשים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4663440"/>
            <a:ext cx="116430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מגרש מובטח — חוזה חתום, ליווי בנקאי בתכנון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היתר בנייה קיים — יתרון עצום על הפרויקטים המתחרים (סקנסקה בשלבי היתר)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BCD Group: שותף מקומי עם 20+ שנה ניסיון ואלפי יחידות בוצעו בצ׳כיה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2C2C2C"/>
                </a:solidFill>
                <a:latin typeface="Arial"/>
                <a:cs typeface="Arial"/>
              </a:rPr>
              <a:t>• פוטנציאל פריסייל גבוה — ביקוש עולה על ההיצע ב-MB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528816"/>
            <a:ext cx="114601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E8D3BB"/>
                </a:solidFill>
                <a:latin typeface="Arial"/>
                <a:cs typeface="Arial"/>
              </a:rPr>
              <a:t>צ׳כיה ישראל  |  הזדמנות השקעה — מלאדה בולסלב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5040"/>
            <a:ext cx="12191695" cy="508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6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FFFFFF"/>
                </a:solidFill>
                <a:latin typeface="Arial"/>
                <a:cs typeface="Arial"/>
              </a:rPr>
              <a:t>תשואות משוערות למשקיע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D3BB"/>
                </a:solidFill>
                <a:latin typeface="Arial"/>
                <a:cs typeface="Arial"/>
              </a:rPr>
              <a:t>מבוסס על מודל פיננסי — תחזית שמרנית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56032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27.8%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2199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IRR שנתי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535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תשואה פנימית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1528" y="14173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81528" y="1417320"/>
            <a:ext cx="256032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72968" y="150876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1.83x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2968" y="222199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MOIC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29535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כפל ההשקעה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8736" y="14173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88736" y="1417320"/>
            <a:ext cx="256032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0176" y="150876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176" y="222199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חודשים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0176" y="29535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אורך ההשקעה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95944" y="14173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95944" y="1417320"/>
            <a:ext cx="256032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87384" y="150876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4800" b="1" i="0">
                <a:solidFill>
                  <a:srgbClr val="C4875C"/>
                </a:solidFill>
                <a:latin typeface="Arial"/>
                <a:cs typeface="Arial"/>
              </a:rPr>
              <a:t>€200K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7384" y="222199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1B2A4A"/>
                </a:solidFill>
                <a:latin typeface="Arial"/>
                <a:cs typeface="Arial"/>
              </a:rPr>
              <a:t>מינימום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7384" y="29535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888682"/>
                </a:solidFill>
                <a:latin typeface="Arial"/>
                <a:cs typeface="Arial"/>
              </a:rPr>
              <a:t>להשקעה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49040"/>
            <a:ext cx="5303520" cy="1828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749040"/>
            <a:ext cx="5303520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840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  <a:cs typeface="Arial"/>
              </a:rPr>
              <a:t>מבנה ההשקעה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2976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E8D3BB"/>
                </a:solidFill>
                <a:latin typeface="Arial"/>
                <a:cs typeface="Arial"/>
              </a:rPr>
              <a:t>• השקעת הון עצמי: מגרש + הוצאות פיתוח</a:t>
            </a:r>
          </a:p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E8D3BB"/>
                </a:solidFill>
                <a:latin typeface="Arial"/>
                <a:cs typeface="Arial"/>
              </a:rPr>
              <a:t>• ליווי בנקאי: מימון שלב הבנייה (~70%)</a:t>
            </a:r>
          </a:p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E8D3BB"/>
                </a:solidFill>
                <a:latin typeface="Arial"/>
                <a:cs typeface="Arial"/>
              </a:rPr>
              <a:t>• רווחים: מחולקים לפי הסכם שותפות</a:t>
            </a:r>
          </a:p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E8D3BB"/>
                </a:solidFill>
                <a:latin typeface="Arial"/>
                <a:cs typeface="Arial"/>
              </a:rPr>
              <a:t>• יציאה: מכירת יחידות + עסקת פריסייל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3749040"/>
            <a:ext cx="6065215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52160" y="3749040"/>
            <a:ext cx="6065215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3840480"/>
            <a:ext cx="58823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1B2A4A"/>
                </a:solidFill>
                <a:latin typeface="Arial"/>
                <a:cs typeface="Arial"/>
              </a:rPr>
              <a:t>למה עכשיו?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4297680"/>
            <a:ext cx="58823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Arial"/>
                <a:cs typeface="Arial"/>
              </a:rPr>
              <a:t>• היתר בנייה בידינו — אין סיכון אישור</a:t>
            </a:r>
          </a:p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Arial"/>
                <a:cs typeface="Arial"/>
              </a:rPr>
              <a:t>• מחירי מגרש לפני גל הבנייה</a:t>
            </a:r>
          </a:p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Arial"/>
                <a:cs typeface="Arial"/>
              </a:rPr>
              <a:t>• עיתוי מושלם: ריבית יורדת, ביקוש עולה</a:t>
            </a:r>
          </a:p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Arial"/>
                <a:cs typeface="Arial"/>
              </a:rPr>
              <a:t>• שותף מנוסה — BCD 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28816"/>
            <a:ext cx="114601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E8D3BB"/>
                </a:solidFill>
                <a:latin typeface="Arial"/>
                <a:cs typeface="Arial"/>
              </a:rPr>
              <a:t>צ׳כיה ישראל  |  הזדמנות השקעה — מלאדה בולסלב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5040"/>
            <a:ext cx="12191695" cy="508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516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FFFFFF"/>
                </a:solidFill>
                <a:latin typeface="Arial"/>
                <a:cs typeface="Arial"/>
              </a:rPr>
              <a:t>הצוות — צ׳כיה ישראל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516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E8D3BB"/>
                </a:solidFill>
                <a:latin typeface="Arial"/>
                <a:cs typeface="Arial"/>
              </a:rPr>
              <a:t>ניסיון, קשרים ותוצאות מוכחות</a:t>
            </a:r>
          </a:p>
        </p:txBody>
      </p:sp>
      <p:sp>
        <p:nvSpPr>
          <p:cNvPr id="6" name="Rectangle 5"/>
          <p:cNvSpPr/>
          <p:nvPr/>
        </p:nvSpPr>
        <p:spPr>
          <a:xfrm>
            <a:off x="1958187" y="1325880"/>
            <a:ext cx="2514600" cy="283464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907" y="1371600"/>
            <a:ext cx="242316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03907" y="42245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800" b="1" i="0">
                <a:solidFill>
                  <a:srgbClr val="1B2A4A"/>
                </a:solidFill>
                <a:latin typeface="Arial"/>
                <a:cs typeface="Arial"/>
              </a:rPr>
              <a:t>מנחם שופל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3907" y="46634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Arial"/>
                <a:cs typeface="Arial"/>
              </a:rPr>
              <a:t>מייסד שותף</a:t>
            </a:r>
          </a:p>
          <a:p>
            <a:pPr algn="ctr" rtl="1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Arial"/>
                <a:cs typeface="Arial"/>
              </a:rPr>
              <a:t>נדל״ן ישראל-צ׳כיה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38547" y="1325880"/>
            <a:ext cx="2514600" cy="283464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yai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267" y="1371600"/>
            <a:ext cx="2423160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84267" y="42245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800" b="1" i="0">
                <a:solidFill>
                  <a:srgbClr val="1B2A4A"/>
                </a:solidFill>
                <a:latin typeface="Arial"/>
                <a:cs typeface="Arial"/>
              </a:rPr>
              <a:t>יאיר שופל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4267" y="46634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Arial"/>
                <a:cs typeface="Arial"/>
              </a:rPr>
              <a:t>מייסד שותף</a:t>
            </a:r>
          </a:p>
          <a:p>
            <a:pPr algn="ctr" rtl="1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Arial"/>
                <a:cs typeface="Arial"/>
              </a:rPr>
              <a:t>פיתוח עסקי ומימון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18907" y="1325880"/>
            <a:ext cx="2514600" cy="283464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on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4627" y="1371600"/>
            <a:ext cx="2423160" cy="2743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64627" y="422452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800" b="1" i="0">
                <a:solidFill>
                  <a:srgbClr val="1B2A4A"/>
                </a:solidFill>
                <a:latin typeface="Arial"/>
                <a:cs typeface="Arial"/>
              </a:rPr>
              <a:t>רוני שייקביץ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64627" y="46634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Arial"/>
                <a:cs typeface="Arial"/>
              </a:rPr>
              <a:t>מייסד שותף</a:t>
            </a:r>
          </a:p>
          <a:p>
            <a:pPr algn="ctr" rtl="1">
              <a:spcAft>
                <a:spcPts val="400"/>
              </a:spcAft>
            </a:pPr>
            <a:r>
              <a:rPr sz="1300" b="0" i="0">
                <a:solidFill>
                  <a:srgbClr val="2C2C2C"/>
                </a:solidFill>
                <a:latin typeface="Arial"/>
                <a:cs typeface="Arial"/>
              </a:rPr>
              <a:t>ניהול ומשפט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486400"/>
            <a:ext cx="11643055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486400"/>
            <a:ext cx="11643055" cy="635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E8D3BB"/>
                </a:solidFill>
                <a:latin typeface="Arial"/>
                <a:cs typeface="Arial"/>
              </a:rPr>
              <a:t>שותף מקומי: BCD Group — מעל 20 שנה בשוק הצ׳כי, אלפי יחידות דיור שנבנו ברחבי צ׳כיה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28816"/>
            <a:ext cx="114601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E8D3BB"/>
                </a:solidFill>
                <a:latin typeface="Arial"/>
                <a:cs typeface="Arial"/>
              </a:rPr>
              <a:t>צ׳כיה ישראל  |  הזדמנות השקעה — מלאדה בולסלב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3520440"/>
            <a:ext cx="12191695" cy="19050"/>
          </a:xfrm>
          <a:prstGeom prst="rect">
            <a:avLst/>
          </a:prstGeom>
          <a:solidFill>
            <a:srgbClr val="C48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274320"/>
            <a:ext cx="192024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005840"/>
            <a:ext cx="114601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5800" b="1" i="0">
                <a:solidFill>
                  <a:srgbClr val="FFFFFF"/>
                </a:solidFill>
                <a:latin typeface="Arial"/>
                <a:cs typeface="Arial"/>
              </a:rPr>
              <a:t>מוכנים להצטרף?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0" i="0">
                <a:solidFill>
                  <a:srgbClr val="C4875C"/>
                </a:solidFill>
                <a:latin typeface="Arial"/>
                <a:cs typeface="Arial"/>
              </a:rPr>
              <a:t>השקעה מינימלית: €200,000  •  מקומות מוגבלים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06040"/>
            <a:ext cx="11460175" cy="12700"/>
          </a:xfrm>
          <a:prstGeom prst="rect">
            <a:avLst/>
          </a:prstGeom>
          <a:solidFill>
            <a:srgbClr val="CCC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69748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Arial"/>
                <a:cs typeface="Arial"/>
              </a:rPr>
              <a:t>מנחם שופל  |  menachem@czechiaisrael.com</a:t>
            </a:r>
          </a:p>
          <a:p>
            <a:pPr algn="r" rtl="1">
              <a:spcAft>
                <a:spcPts val="400"/>
              </a:spcAft>
            </a:pPr>
            <a:r>
              <a:rPr sz="1600" b="0" i="0">
                <a:solidFill>
                  <a:srgbClr val="E8D3BB"/>
                </a:solidFill>
                <a:latin typeface="Arial"/>
                <a:cs typeface="Arial"/>
              </a:rPr>
              <a:t>www.czechiaisrael.com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577840"/>
            <a:ext cx="114601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C4875C"/>
                </a:solidFill>
                <a:latin typeface="Arial"/>
                <a:cs typeface="Arial"/>
              </a:rPr>
              <a:t>IRR 27.8%  •  MOIC 1.83x  •  36 חודשים  •  צ׳כיה ישראל + BCD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